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</a:rPr>
              <a:t>数据库系统课程设计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85C1E9"/>
                </a:solidFill>
                <a:latin typeface="Microsoft YaHei"/>
              </a:rPr>
              <a:t>学生成绩管理系统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566160"/>
            <a:ext cx="2130552" cy="36576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3840480"/>
            <a:ext cx="3959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专    业：计算机科学与技术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297680"/>
            <a:ext cx="3959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学生姓名：蔡坤灿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4754880"/>
            <a:ext cx="3959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指导教师：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5212080"/>
            <a:ext cx="39593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icrosoft YaHei"/>
              </a:rPr>
              <a:t>日    期：2026年7月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A5276"/>
                </a:solidFill>
                <a:latin typeface="Microsoft YaHei"/>
              </a:rPr>
              <a:t>目  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640080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44475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4630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Microsoft YaHei"/>
              </a:rPr>
              <a:t>系统功能总览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640080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35915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774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Microsoft YaHei"/>
              </a:rPr>
              <a:t>技术方案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00400"/>
            <a:ext cx="640080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7355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03-09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918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Microsoft YaHei"/>
              </a:rPr>
              <a:t>问题与解决方案（核心）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114800"/>
            <a:ext cx="640080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8795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2062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Microsoft YaHei"/>
              </a:rPr>
              <a:t>项目特色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029200"/>
            <a:ext cx="640080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102352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1206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C3E50"/>
                </a:solidFill>
                <a:latin typeface="Microsoft YaHei"/>
              </a:rPr>
              <a:t>设计总结与不足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276"/>
                </a:solidFill>
                <a:latin typeface="Microsoft YaHei"/>
              </a:rPr>
              <a:t>01  系统功能总览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566160" cy="411480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566160" cy="6400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🎓  学  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</a:rPr>
              <a:t>✓ 可选课程查询（过滤满员/过期/同课异师）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</a:rPr>
              <a:t>✓ 选课/退选（触发器实时校验+行级锁防超卖）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</a:rPr>
              <a:t>✓ 我的成绩（Plotly 柱状图+学籍分/GPA）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</a:rPr>
              <a:t>✓ 学期均分查询（selectbox 下拉）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097280"/>
            <a:ext cx="3566160" cy="411480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566160" cy="6400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👨‍🏫  教  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</a:rPr>
              <a:t>✓ 逐条录入成绩（Pydantic 校验）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</a:rPr>
              <a:t>✓ CSV 批量导入（按行反馈中文结果）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</a:rPr>
              <a:t>✓ 查看课程学生（饼图+排行+未录入提醒）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097280"/>
            <a:ext cx="3566160" cy="411480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097280"/>
            <a:ext cx="3566160" cy="64008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📋  教务管理员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92024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</a:rPr>
              <a:t>✓ 数据概览（Plotly 6 种图表）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</a:rPr>
              <a:t>✓ 6 大实体 CRUD + 专业管理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</a:rPr>
              <a:t>✓ 排课管理（datetime_input 原生组件）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</a:rPr>
              <a:t>✓ 选课管理（按学号+学期精准查询）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</a:rPr>
              <a:t>✓ 成绩统计/明细/教师排行/备份恢复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8C8D"/>
                </a:solidFill>
                <a:latin typeface="Microsoft YaHei"/>
              </a:rPr>
              <a:t>数据规模：20,000 学生 | 300 教师 | 329 班级 | 1,004 排课 | 2,002,688 选课 | 160+ 专业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276"/>
                </a:solidFill>
                <a:latin typeface="Microsoft YaHei"/>
              </a:rPr>
              <a:t>02  技术方案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566160" cy="256032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5276"/>
                </a:solidFill>
                <a:latin typeface="Microsoft YaHei"/>
              </a:rPr>
              <a:t>🎨 表现层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• Streamlit Web（22 页面）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• Plotly 交互式图表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• Pydantic 前端校验+max_chars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566160" cy="256032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86C1"/>
                </a:solidFill>
                <a:latin typeface="Microsoft YaHei"/>
              </a:rPr>
              <a:t>🧠 业务逻辑层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7373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• 9 个存储过程封装业务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• 5 个触发器维护数据一致性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• 3 个视图简化查询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97280"/>
            <a:ext cx="3566160" cy="256032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1887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CAF50"/>
                </a:solidFill>
                <a:latin typeface="Microsoft YaHei"/>
              </a:rPr>
              <a:t>🗄️ 数据层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73736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• MySQL 8.0 / InnoDB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• SQLAlchemy QueuePool 连接池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• 全部逻辑删除(is_deleted)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931920"/>
            <a:ext cx="17373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14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5276"/>
                </a:solidFill>
                <a:latin typeface="Microsoft YaHei"/>
              </a:rPr>
              <a:t>Python 3.12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72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Microsoft YaHei"/>
              </a:rPr>
              <a:t>编程语言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40" y="3931920"/>
            <a:ext cx="17373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4114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5276"/>
                </a:solidFill>
                <a:latin typeface="Microsoft YaHei"/>
              </a:rPr>
              <a:t>MySQL 8.0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572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Microsoft YaHei"/>
              </a:rPr>
              <a:t>数据库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931920"/>
            <a:ext cx="17373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4114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5276"/>
                </a:solidFill>
                <a:latin typeface="Microsoft YaHei"/>
              </a:rPr>
              <a:t>Streamlit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572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Microsoft YaHei"/>
              </a:rPr>
              <a:t>Web 框架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931920"/>
            <a:ext cx="17373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114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5276"/>
                </a:solidFill>
                <a:latin typeface="Microsoft YaHei"/>
              </a:rPr>
              <a:t>PyMySQL+Pool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572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Microsoft YaHei"/>
              </a:rPr>
              <a:t>数据库驱动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931920"/>
            <a:ext cx="17373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114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5276"/>
                </a:solidFill>
                <a:latin typeface="Microsoft YaHei"/>
              </a:rPr>
              <a:t>Plotly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572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Microsoft YaHei"/>
              </a:rPr>
              <a:t>交互图表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0" y="3931920"/>
            <a:ext cx="173736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40" y="41148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A5276"/>
                </a:solidFill>
                <a:latin typeface="Microsoft YaHei"/>
              </a:rPr>
              <a:t>Pydantic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45720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  <a:latin typeface="Microsoft YaHei"/>
              </a:rPr>
              <a:t>数据校验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276"/>
                </a:solidFill>
                <a:latin typeface="Microsoft YaHei"/>
              </a:rPr>
              <a:t>03  问题：MySQL 排序规则冲突（报错 1267）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91440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4C3C"/>
                </a:solidFill>
                <a:latin typeface="Microsoft YaHei"/>
              </a:rPr>
              <a:t>❓ 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Microsoft YaHei"/>
              </a:rPr>
              <a:t>MySQL 8.0 默认排序规则 utf8mb4_0900_ai_ci 与数据库的 utf8mb4_unicode_ci 不兼容，</a:t>
            </a:r>
            <a:br/>
            <a:r>
              <a:t>存储过程中字符串比较时报错 1267「Illegal mix of collations」，所有涉及字符串查询的功能全部崩溃。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</a:rPr>
              <a:t>💡 思路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     找到冲突根因，在连接层和查询层双重统一排序规则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</a:rPr>
              <a:t>🔧 方法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     pymysql 连接参数指定 collation + 存储过程显式加 COLLATE 子句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</a:rPr>
              <a:t>🛠️ 手段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     ①DB_URL 加 collation=utf8mb4_unicode_ci ②SP/fn 中字符串比较后加 COLLATE utf8mb4_unicode_ci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</a:rPr>
              <a:t>✅ 成效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     1267 错误完全清零，所有存储过程正常运行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276"/>
                </a:solidFill>
                <a:latin typeface="Microsoft YaHei"/>
              </a:rPr>
              <a:t>04  问题：最后一个名额同时被多人选走（并发超卖）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91440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4C3C"/>
                </a:solidFill>
                <a:latin typeface="Microsoft YaHei"/>
              </a:rPr>
              <a:t>❓ 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Microsoft YaHei"/>
              </a:rPr>
              <a:t>两个学生同时选最后一门课（current=29, max=30），两个事务同时读到 current=29，</a:t>
            </a:r>
            <a:br/>
            <a:r>
              <a:t>都认为有名额而 INSERT 成功，最终变成 31/30 的数据不一致。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</a:rPr>
              <a:t>💡 思路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     让第二个事务等待，读取到最新的 current 值再做判断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</a:rPr>
              <a:t>🔧 方法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     触发器中使用 SELECT ... FOR UPDATE 加排他行锁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</a:rPr>
              <a:t>🛠️ 手段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     trg_enrollment_before_insert 中加 FOR UPDATE，学生 B 等待直到学生 A COMMIT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</a:rPr>
              <a:t>✅ 成效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     A 选上最后一个名额，B 收到「选课已满！当前 30/30」异常并 ROLLBACK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276"/>
                </a:solidFill>
                <a:latin typeface="Microsoft YaHei"/>
              </a:rPr>
              <a:t>05  问题：200 万条选课数据导入太慢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91440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4C3C"/>
                </a:solidFill>
                <a:latin typeface="Microsoft YaHei"/>
              </a:rPr>
              <a:t>❓ 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Microsoft YaHei"/>
              </a:rPr>
              <a:t>200 万条选课 + 5 个触发器，逐条 INSERT + 触发逻辑，预计需要数小时。</a:t>
            </a:r>
            <a:br/>
            <a:r>
              <a:t>触发器每次都会执行 FOR UPDATE 锁、人数更新和 GPA 重算，200 万×5 次 = 1000 万次触发。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</a:rPr>
              <a:t>💡 思路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     先删触发器 → 批量导入 → 手动一次重算，避免逐行触发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</a:rPr>
              <a:t>🔧 方法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     LOAD DATA LOCAL INFILE（比 INSERT 快 20 倍）+ Python 批量 GPA UPDATE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</a:rPr>
              <a:t>🛠️ 手段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     ①Python 预删 5 个触发器 ②LOAD DATA INFILE 导入 CSV ③UPDATE 一次性重算全部学生 GPA ④Python 重建触发器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</a:rPr>
              <a:t>✅ 成效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     导入时间从数小时降至约 30 秒，200 万条 + 20000 人 GPA 重算全部完成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276"/>
                </a:solidFill>
                <a:latin typeface="Microsoft YaHei"/>
              </a:rPr>
              <a:t>06  问题：200 万条数据全量加载导致页面卡顿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91440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4C3C"/>
                </a:solidFill>
                <a:latin typeface="Microsoft YaHei"/>
              </a:rPr>
              <a:t>❓ 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Microsoft YaHei"/>
              </a:rPr>
              <a:t>选课管理页面加载全部 200 万条选课记录，Python 内存消耗巨大、Streamlit 渲染超时、</a:t>
            </a:r>
            <a:br/>
            <a:r>
              <a:t>下拉退选框 200 万选项浏览器直接卡死。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</a:rPr>
              <a:t>💡 思路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     用户只需要查特定学生的选课，不要全部加载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</a:rPr>
              <a:t>🔧 方法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     改成按学期+学号精准查询，退改用输入 ID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</a:rPr>
              <a:t>🛠️ 手段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     ①学期 selectbox（轻量 DISTINCT 查询）②输入学号查该生该学期选课 ③退选输入选课 ID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</a:rPr>
              <a:t>✅ 成效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     每次查询只返回几行结果，页面秒开，零延迟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276"/>
                </a:solidFill>
                <a:latin typeface="Microsoft YaHei"/>
              </a:rPr>
              <a:t>07  问题：表单无校验导致脏数据入库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91440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4C3C"/>
                </a:solidFill>
                <a:latin typeface="Microsoft YaHei"/>
              </a:rPr>
              <a:t>❓ 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Microsoft YaHei"/>
              </a:rPr>
              <a:t>用户可输入任意非法数据：成绩填 abc、学号填 999999999999、排课上限填超出 INT 范围的超大数字。</a:t>
            </a:r>
            <a:br/>
            <a:r>
              <a:t>部分数据到 SQL 层才报错，用户体验差且数据库有风险。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</a:rPr>
              <a:t>💡 思路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     在 Streamlit 前端和后端存储过程之间增加一层统一的输入校验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</a:rPr>
              <a:t>🔧 方法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     Pydantic 模型 + validate_or_error 统一函数 + 前端 max_chars 截断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</a:rPr>
              <a:t>🛠️ 手段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     ①创建 StudentCreate/TeacherCreate/GradeRecord 等校验模型 ②学号/工号/成绩格式校验 ③text_input 配置 max_chars ④st.toast 中文错误提示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</a:rPr>
              <a:t>✅ 成效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     脏数据零入库，非法输入在前端被拦截并显示中文报错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276"/>
                </a:solidFill>
                <a:latin typeface="Microsoft YaHei"/>
              </a:rPr>
              <a:t>08  问题：JavaScript 精度丢失导致校验被绕过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11247120" cy="91440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4C3C"/>
                </a:solidFill>
                <a:latin typeface="Microsoft YaHei"/>
              </a:rPr>
              <a:t>❓ 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Microsoft YaHei"/>
              </a:rPr>
              <a:t>排课上限用 st.number_input，底层依赖 JS Number（64 位浮点）。</a:t>
            </a:r>
            <a:br/>
            <a:r>
              <a:t>输入 46 位超大数字时超出 JS 安全整数范围（2^53），JS 静默截断→Python 收到正常值→校验通过→SQL 爆掉。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</a:rPr>
              <a:t>💡 思路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     绕过 JS Number，用 text_input（字符串）传值，Python 端手动 int() 转换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</a:rPr>
              <a:t>🔧 方法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     text_input + max_chars=5（最多 5 位数字 0~99999）+ 后端 int() + &gt;99999 检查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</a:rPr>
              <a:t>🛠️ 手段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     ①排课上限改为 text_input(max_chars=5) ②按钮中 int(max_s) ③max_s &gt; 99999 拦截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E86C1"/>
                </a:solidFill>
              </a:rPr>
              <a:t>✅ 成效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</a:rPr>
              <a:t>     不管用户输入多少位数字，最多输入 5 位，JS 精度问题彻底解决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276"/>
                </a:solidFill>
                <a:latin typeface="Microsoft YaHei"/>
              </a:rPr>
              <a:t>09  项目特色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3566160" cy="246888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5276"/>
                </a:solidFill>
                <a:latin typeface="Microsoft YaHei"/>
              </a:rPr>
              <a:t>🎯 双界面交付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Microsoft YaHei"/>
              </a:rPr>
              <a:t>CLI + Streamlit Web 双模式运行，</a:t>
            </a:r>
            <a:br/>
            <a:r>
              <a:t>同一套业务函数复用，代码零冗余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05840"/>
            <a:ext cx="3566160" cy="246888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143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5276"/>
                </a:solidFill>
                <a:latin typeface="Microsoft YaHei"/>
              </a:rPr>
              <a:t>🔒 并发安全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Microsoft YaHei"/>
              </a:rPr>
              <a:t>FOR UPDATE 行级锁 + 事务 + </a:t>
            </a:r>
            <a:br/>
            <a:r>
              <a:t>UNIQUE 索引三层防护防超卖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005840"/>
            <a:ext cx="3566160" cy="246888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143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5276"/>
                </a:solidFill>
                <a:latin typeface="Microsoft YaHei"/>
              </a:rPr>
              <a:t>🚀 大数据量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64592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Microsoft YaHei"/>
              </a:rPr>
              <a:t>200 万选课 30 秒导入，</a:t>
            </a:r>
            <a:br/>
            <a:r>
              <a:t>LOAD DATA + 删触发器 + 批量 GPA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49039"/>
            <a:ext cx="3566160" cy="246888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8861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5276"/>
                </a:solidFill>
                <a:latin typeface="Microsoft YaHei"/>
              </a:rPr>
              <a:t>✅ 输入校验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89119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Microsoft YaHei"/>
              </a:rPr>
              <a:t>Pydantic 全表单校验 +</a:t>
            </a:r>
            <a:br/>
            <a:r>
              <a:t>st.toast 中文提示 + max_chars 截断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749039"/>
            <a:ext cx="3566160" cy="246888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38861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5276"/>
                </a:solidFill>
                <a:latin typeface="Microsoft YaHei"/>
              </a:rPr>
              <a:t>📊 交互图表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389119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Microsoft YaHei"/>
              </a:rPr>
              <a:t>Plotly 饼图/柱状图 10+ 处，</a:t>
            </a:r>
            <a:br/>
            <a:r>
              <a:t>成绩分布/教师排行一目了然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3749039"/>
            <a:ext cx="3566160" cy="246888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38861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5276"/>
                </a:solidFill>
                <a:latin typeface="Microsoft YaHei"/>
              </a:rPr>
              <a:t>🤖 AI 辅助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389119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Microsoft YaHei"/>
              </a:rPr>
              <a:t>Claude Code 全流程辅助，</a:t>
            </a:r>
            <a:br/>
            <a:r>
              <a:t>人工逐行审核+80+次 Git 提交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5276"/>
                </a:solidFill>
                <a:latin typeface="Microsoft YaHei"/>
              </a:rPr>
              <a:t>10  设计总结与不足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05840"/>
            <a:ext cx="5486400" cy="3657600"/>
          </a:xfrm>
          <a:prstGeom prst="roundRect">
            <a:avLst/>
          </a:prstGeom>
          <a:solidFill>
            <a:srgbClr val="EB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CAF50"/>
                </a:solidFill>
                <a:latin typeface="Microsoft YaHei"/>
              </a:rPr>
              <a:t>✅ 设计总结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</a:rPr>
              <a:t>• 数据库：8 表 · 3 视图 · 5 触发器 · 9 存储过程 · 2 函数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</a:rPr>
              <a:t>• 应用层：CLI + Streamlit 双界面 · 22 个 Web 页面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</a:rPr>
              <a:t>• 校验层：Pydantic 全表单校验 · Plotly 交互图表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</a:rPr>
              <a:t>• 并发：FOR UPDATE 行锁 · 事务机制 · 唯一索引三层防护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</a:rPr>
              <a:t>• 数据：20,000 学生 · 300 教师 · 200 万选课 · 30 秒导入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</a:rPr>
              <a:t>• 版本：Git 80+ 次提交 · GitHub 托管 · AI 全程辅助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05840"/>
            <a:ext cx="5486400" cy="3657600"/>
          </a:xfrm>
          <a:prstGeom prst="roundRect">
            <a:avLst/>
          </a:prstGeom>
          <a:solidFill>
            <a:srgbClr val="F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74C3C"/>
                </a:solidFill>
                <a:latin typeface="Microsoft YaHei"/>
              </a:rPr>
              <a:t>⚠️ 存在不足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</a:rPr>
              <a:t>• 缺少自动化单元测试和 CI/CD 流水线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</a:rPr>
              <a:t>• 未实现 Redis 缓存和读写分离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</a:rPr>
              <a:t>• 物理设计可进一步系统化 EXPLAIN 分析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</a:rPr>
              <a:t>• AI 对 Streamlit 组件行为理解不深入，st.form 迭代 3 轮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C3E50"/>
                </a:solidFill>
              </a:rPr>
              <a:t>• 大数据量下部分页面查询仍需优化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029200"/>
            <a:ext cx="1124712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A5276"/>
                </a:solidFill>
                <a:latin typeface="Microsoft YaHei"/>
              </a:rPr>
              <a:t>谢谢老师！请各位老师批评指正 🙏   课程设计只是起点，工程化思维才是真正的收获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