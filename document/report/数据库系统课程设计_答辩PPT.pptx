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196F3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数据库系统课程设计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学生成绩管理系统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8" name="Text 5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计算机科学与技术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蔡坤灿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项目概述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0" y="1417320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背景、目标、技术栈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" name="Text 7"/>
          <p:cNvSpPr/>
          <p:nvPr/>
        </p:nvSpPr>
        <p:spPr>
          <a:xfrm>
            <a:off x="548640" y="175564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755648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1755648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业务需求、数据流图、数据字典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Text 11"/>
          <p:cNvSpPr/>
          <p:nvPr/>
        </p:nvSpPr>
        <p:spPr>
          <a:xfrm>
            <a:off x="548640" y="209397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09397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概念结构设计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2093976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ER图、实体关系、设计决策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7" name="Text 15"/>
          <p:cNvSpPr/>
          <p:nvPr/>
        </p:nvSpPr>
        <p:spPr>
          <a:xfrm>
            <a:off x="548640" y="243230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432304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逻辑结构设计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08960" y="2432304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8张数据表、视图、存储过程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52344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548640" y="277063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277063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物理设计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2770632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存储结构、索引策略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090672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548640" y="310896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108960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数据库实施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108960" y="3108960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DDL、视图、触发器、存储过程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548640" y="344728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3447288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系统实现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108960" y="3447288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双界面架构、功能模块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767328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31"/>
          <p:cNvSpPr/>
          <p:nvPr/>
        </p:nvSpPr>
        <p:spPr>
          <a:xfrm>
            <a:off x="548640" y="378561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378561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AI辅助开发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108960" y="3785616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AI工具使用、人工修正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105656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548640" y="412394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1560" y="4123944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测试与运维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108960" y="4123944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功能测试、备份恢复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43984"/>
            <a:ext cx="8138160" cy="731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1" name="Text 39"/>
          <p:cNvSpPr/>
          <p:nvPr/>
        </p:nvSpPr>
        <p:spPr>
          <a:xfrm>
            <a:off x="548640" y="446227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1560" y="446227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总结与收获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108960" y="4462272"/>
            <a:ext cx="475488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成果、体会、改进方向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项目概述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Shape 5"/>
          <p:cNvSpPr/>
          <p:nvPr/>
        </p:nvSpPr>
        <p:spPr>
          <a:xfrm>
            <a:off x="298450" y="1417320"/>
            <a:ext cx="457200" cy="457200"/>
          </a:xfrm>
          <a:prstGeom prst="ellipse">
            <a:avLst/>
          </a:prstGeom>
          <a:solidFill>
            <a:srgbClr val="2196F3">
              <a:alpha val="88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" y="15087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417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338328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本课程设计选题为「学生成绩管理系统」，采用传统人工设计方法结合AI辅助工具，完成数据库设计的六个阶段：需求分析 → 概念结构设计 → 逻辑结构设计 → 物理结构设计 → 数据库实施 → 运行与维护。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931920" cy="777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64008" cy="77724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3" name="Text 10"/>
          <p:cNvSpPr/>
          <p:nvPr/>
        </p:nvSpPr>
        <p:spPr>
          <a:xfrm>
            <a:off x="5029200" y="12618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126480" y="1371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2103120"/>
            <a:ext cx="3931920" cy="777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103120"/>
            <a:ext cx="64008" cy="7772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4"/>
          <p:cNvSpPr/>
          <p:nvPr/>
        </p:nvSpPr>
        <p:spPr>
          <a:xfrm>
            <a:off x="5029200" y="21762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2648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触发器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3017520"/>
            <a:ext cx="3931920" cy="777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017520"/>
            <a:ext cx="64008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8"/>
          <p:cNvSpPr/>
          <p:nvPr/>
        </p:nvSpPr>
        <p:spPr>
          <a:xfrm>
            <a:off x="5029200" y="30906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26480" y="32004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存储过程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3931920"/>
            <a:ext cx="3931920" cy="777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931920"/>
            <a:ext cx="64008" cy="77724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5" name="Text 22"/>
          <p:cNvSpPr/>
          <p:nvPr/>
        </p:nvSpPr>
        <p:spPr>
          <a:xfrm>
            <a:off x="5029200" y="40050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12648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Streamlit页面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技术栈：MySQL 8.0  |  Python 3.12  |  Streamlit  |  Claude Code (Opus 4)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352044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核心业务规则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学生 : 班级 = N : 1（学生表加 class_id 外键）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学生 : 课程 = M : N（通过选课中间表 enrollment 实现）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课程 : 教师 = M : N（讲授资格 + 排课两层设计）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选课需经过排课安排（course_offering），含有效时间窗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选课人数达到上限时禁止选课，触发器实时维护人数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成绩录入后触发器自动计算学籍分和绩点分（GPA）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统计报表全部使用存储过程实现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三角色权限：学生 / 教师 / 教务管理员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全部采用逻辑删除（is_deleted），保留数据痕迹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数据流概览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560320" cy="43891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691640"/>
            <a:ext cx="45720" cy="43891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9" name="Text 17"/>
          <p:cNvSpPr/>
          <p:nvPr/>
        </p:nvSpPr>
        <p:spPr>
          <a:xfrm>
            <a:off x="6355080" y="173736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173736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选课/退选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240280"/>
            <a:ext cx="2560320" cy="43891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240280"/>
            <a:ext cx="45720" cy="43891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3" name="Text 21"/>
          <p:cNvSpPr/>
          <p:nvPr/>
        </p:nvSpPr>
        <p:spPr>
          <a:xfrm>
            <a:off x="6355080" y="228600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22860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录入成绩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788920"/>
            <a:ext cx="2560320" cy="43891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788920"/>
            <a:ext cx="45720" cy="43891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6355080" y="283464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283464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基础CRUD + 排课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560320" cy="43891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337560"/>
            <a:ext cx="45720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6355080" y="338328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338328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自动算分/更新人数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886200"/>
            <a:ext cx="2560320" cy="43891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886200"/>
            <a:ext cx="45720" cy="438912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5" name="Text 33"/>
          <p:cNvSpPr/>
          <p:nvPr/>
        </p:nvSpPr>
        <p:spPr>
          <a:xfrm>
            <a:off x="6355080" y="393192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存储过程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69480" y="393192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统计报表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概念结构设计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Shape 5"/>
          <p:cNvSpPr/>
          <p:nvPr/>
        </p:nvSpPr>
        <p:spPr>
          <a:xfrm>
            <a:off x="1179830" y="137160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126" y="14538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920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班级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14300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14300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2" name="Shape 9"/>
          <p:cNvSpPr/>
          <p:nvPr/>
        </p:nvSpPr>
        <p:spPr>
          <a:xfrm>
            <a:off x="3282950" y="137160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246" y="14538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1920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14300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14300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13"/>
          <p:cNvSpPr/>
          <p:nvPr/>
        </p:nvSpPr>
        <p:spPr>
          <a:xfrm>
            <a:off x="5386070" y="137160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366" y="14538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1920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课程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course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66560" y="114300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14300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2" name="Shape 17"/>
          <p:cNvSpPr/>
          <p:nvPr/>
        </p:nvSpPr>
        <p:spPr>
          <a:xfrm>
            <a:off x="7489190" y="137160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486" y="145389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66560" y="19202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283464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283464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Shape 21"/>
          <p:cNvSpPr/>
          <p:nvPr/>
        </p:nvSpPr>
        <p:spPr>
          <a:xfrm>
            <a:off x="1179830" y="306324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126" y="3145536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720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排课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course_offering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2560320" y="283464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60320" y="283464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5"/>
          <p:cNvSpPr/>
          <p:nvPr/>
        </p:nvSpPr>
        <p:spPr>
          <a:xfrm>
            <a:off x="3282950" y="306324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246" y="3145536"/>
            <a:ext cx="246888" cy="2468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6032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4663440" y="283464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663440" y="283464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29"/>
          <p:cNvSpPr/>
          <p:nvPr/>
        </p:nvSpPr>
        <p:spPr>
          <a:xfrm>
            <a:off x="5386070" y="306324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366" y="3145536"/>
            <a:ext cx="246888" cy="2468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6344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讲授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teacher_course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6766560" y="2834640"/>
            <a:ext cx="1828800" cy="1463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766560" y="2834640"/>
            <a:ext cx="1828800" cy="4572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2" name="Shape 33"/>
          <p:cNvSpPr/>
          <p:nvPr/>
        </p:nvSpPr>
        <p:spPr>
          <a:xfrm>
            <a:off x="7489190" y="3063240"/>
            <a:ext cx="411480" cy="4114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1486" y="3145536"/>
            <a:ext cx="246888" cy="2468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66560" y="361188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绩点规则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grade_point_rule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关系：class 1:N student  |  student M:N course_offering (via enrollment)  |  teacher M:N course (via teacher_course + course_offering)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逻辑结构设计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DESIGN — 8张数据表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097280"/>
          <a:ext cx="8229600" cy="2907792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103120"/>
                <a:gridCol w="320040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类型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表名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说明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关键字段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基础实体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class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班级表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name, grade, major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基础实体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student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学生表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no, name, class_id, weighted_score, gpa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基础实体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course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课程表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name, credit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基础实体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teacher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教师表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no, name, title, phone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基础实体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course_offering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排课表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course_id, teacher_id, semester, max_students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中间关系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enrollment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选课表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offering_id, student_id, score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中间关系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teacher_course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讲授表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id, teacher_id, course_id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辅助表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grade_point_rule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绩点规则表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min_score, max_score, point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设计原则：utf8mb4 + InnoDB  |  全部逻辑删除 (is_deleted)  |  status 管业务，is_deleted 管数据  |  主键 INT AUTO_INCREMENT</a:t>
            </a:r>
            <a:endParaRPr lang="en-US" sz="950" dirty="0"/>
          </a:p>
        </p:txBody>
      </p:sp>
      <p:sp>
        <p:nvSpPr>
          <p:cNvPr id="5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" name="Text 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满足 1NF / 2NF / 3NF  |  ✓ 全部外键约束  |  ✓ 关键字段 UNIQUE 索引  |  ✓ 未采用反范式化冗余字段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物理设计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存储配置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存储引擎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783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InnoDB（事务/行级锁/外键）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字符集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286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utf8mb4（完整Unicode）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排序规则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7889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utf8mb4_unicode_ci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主键策略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 AUTO_INCREMENT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文件存储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794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默认ibdata共享表空间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索引策略（EXPLAIN 验证通过）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7190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student.no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71907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唯一索引，最频繁查询条件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1488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student.class_id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14884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按班级查学生名单（高频）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551176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57860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enrollment.student_id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57860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按学生查选课/成绩（高频）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980944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00837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enrollment(offering_id,student_id)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0083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防重复选课唯一索引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410712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343814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course_offering.teacher_id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34381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按教师查排课（高频）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386791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course_offering.semester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8679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按学期筛选排课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4270248"/>
            <a:ext cx="3931920" cy="3474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42976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teacher_course(teacher_id,course_id)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42976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防重复讲授+双向查询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数据库实施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IMPLEMENTATION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52044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Text 5"/>
          <p:cNvSpPr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视图 (3)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v_student_message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学生基本信息视图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4040" y="2651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v_course_plan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选课安排列表视图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4195" y="34518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v_enrollment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选课详情多表联查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352044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5176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3429000" y="1325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触发器 (5)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trg_enrollment_before_insert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选课前名额检查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2350770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trg_enrollment_after_insert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选课后人数 +1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924175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trg_enrollment_after_update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退选后人数 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453765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after_insert_score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选课时自动算分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3600" y="4019550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after_update_score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成绩变化自动重算GPA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51760" cy="352044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263640" y="1325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存储过程 (9)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sp_show_courses / sp_enroll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选课/退选事务控制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402205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sp_grade_input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逐条成绩录入+批量CSV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2996565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sp_student_roster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班级学籍分名单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578225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sp_class_grade_report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成绩统计（均分/及格率）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005" y="4164330"/>
            <a:ext cx="2377440" cy="5733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sp_teacher_info / list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教师授课统计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系统实现 — 双界面架构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Text 5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 命令行界面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数据驱动菜单 render_menu()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Paginator 分页器类（自动切片翻页）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中文对齐（unicodedata 宽度计算）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清屏 / Y/n确认 / 自动对齐表格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4角色入口：学生/教师/教务/测试员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~1000行 Python 代码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 Web 界面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st.navigation 原生多页导航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22个页面（学生5+教师3+教务14）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st.dataframe / st.metric 数据展示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st.button + session_state 状态管理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7个CSV文件批量导入初始化数据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~700行 Python 代码（app.py）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共享后端：MySQL 8.0 → pymysql → core/config.py + auth.py + utils.py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系统实现 — 功能模块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MODULES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Shape 5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2196F3">
              <a:alpha val="88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538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17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学生端 (5功能)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查看可选课程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3591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 (sp_enroll)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27523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退选 (sp_unenroll)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14553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查看成绩与学籍分/GPA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35387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查看学期均分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91840" y="1188720"/>
            <a:ext cx="265176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188720"/>
            <a:ext cx="265176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Shape 14"/>
          <p:cNvSpPr/>
          <p:nvPr/>
        </p:nvSpPr>
        <p:spPr>
          <a:xfrm>
            <a:off x="3383280" y="1371600"/>
            <a:ext cx="411480" cy="411480"/>
          </a:xfrm>
          <a:prstGeom prst="ellipse">
            <a:avLst/>
          </a:prstGeom>
          <a:solidFill>
            <a:srgbClr val="0D9488">
              <a:alpha val="88000"/>
            </a:srgbClr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45389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1417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教师端 (3功能)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29000" y="1965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逐条录入成绩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429000" y="23591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批量CSV录入成绩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429000" y="27523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查看所授课程学生名单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26480" y="1188720"/>
            <a:ext cx="2651760" cy="3520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Shape 21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F59E0B">
              <a:alpha val="88000"/>
            </a:srgbClr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53896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20840" y="1417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教务端 (14功能)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263640" y="1965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数据概览（6个统计卡片）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263640" y="23591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6实体增删改查（逻辑删除）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263640" y="275234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排课管理（教师/时间/上限）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263640" y="314553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选课管理（强制退选）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263640" y="35387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统计报表（4个存储过程）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6263640" y="3931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</a:t>
            </a:r>
            <a:r>
              <a:rPr lang="en-US" sz="105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数据库备份与恢复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辅助开发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DEVELOPMENT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Code (Opus 4)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6916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路由B：AI增强IDE全栈辅助开发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代码生成 · 调试 · 重构 · 文档 · 文件操作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在各设计阶段的应用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45920" y="32004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提取实体与业务规则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3246120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Shape 10"/>
          <p:cNvSpPr/>
          <p:nvPr/>
        </p:nvSpPr>
        <p:spPr>
          <a:xfrm>
            <a:off x="3200400" y="3246120"/>
            <a:ext cx="96012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4" name="Text 11"/>
          <p:cNvSpPr/>
          <p:nvPr/>
        </p:nvSpPr>
        <p:spPr>
          <a:xfrm>
            <a:off x="4663440" y="320040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49300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概念设计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45920" y="3493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讨论ER建模决策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3538728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Shape 15"/>
          <p:cNvSpPr/>
          <p:nvPr/>
        </p:nvSpPr>
        <p:spPr>
          <a:xfrm>
            <a:off x="3200400" y="3538728"/>
            <a:ext cx="68580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19" name="Text 16"/>
          <p:cNvSpPr/>
          <p:nvPr/>
        </p:nvSpPr>
        <p:spPr>
          <a:xfrm>
            <a:off x="4663440" y="349300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378561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逻辑设计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645920" y="378561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生成DDL + 字段建议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3831336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Shape 20"/>
          <p:cNvSpPr/>
          <p:nvPr/>
        </p:nvSpPr>
        <p:spPr>
          <a:xfrm>
            <a:off x="3200400" y="3831336"/>
            <a:ext cx="102870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4" name="Text 21"/>
          <p:cNvSpPr/>
          <p:nvPr/>
        </p:nvSpPr>
        <p:spPr>
          <a:xfrm>
            <a:off x="4663440" y="378561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078224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物理设计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45920" y="40782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索引策略 + EXPLAIN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0" y="4123944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Shape 25"/>
          <p:cNvSpPr/>
          <p:nvPr/>
        </p:nvSpPr>
        <p:spPr>
          <a:xfrm>
            <a:off x="3200400" y="4123944"/>
            <a:ext cx="82296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9" name="Text 26"/>
          <p:cNvSpPr/>
          <p:nvPr/>
        </p:nvSpPr>
        <p:spPr>
          <a:xfrm>
            <a:off x="4663440" y="40782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3708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数据库实施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45920" y="43708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SQL代码生成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00400" y="4416552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Shape 30"/>
          <p:cNvSpPr/>
          <p:nvPr/>
        </p:nvSpPr>
        <p:spPr>
          <a:xfrm>
            <a:off x="3200400" y="4416552"/>
            <a:ext cx="109728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4" name="Text 31"/>
          <p:cNvSpPr/>
          <p:nvPr/>
        </p:nvSpPr>
        <p:spPr>
          <a:xfrm>
            <a:off x="4663440" y="437083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66344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应用开发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64592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CLI + Streamlit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00400" y="4709160"/>
            <a:ext cx="1371600" cy="16459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Shape 35"/>
          <p:cNvSpPr/>
          <p:nvPr/>
        </p:nvSpPr>
        <p:spPr>
          <a:xfrm>
            <a:off x="3200400" y="4709160"/>
            <a:ext cx="960120" cy="164592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39" name="Text 36"/>
          <p:cNvSpPr/>
          <p:nvPr/>
        </p:nvSpPr>
        <p:spPr>
          <a:xfrm>
            <a:off x="4663440" y="46634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29810" y="640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关键人工修正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829810" y="10972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✎ sp_enroll 新增同课程多教师校验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29810" y="148132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✎ st.form → st.button 重构（3轮迭代）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829810" y="1865376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✎ SQL f-string → %s 占位符（防注入）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829810" y="2249424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✎ 1267 排序规则冲突修复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829810" y="26334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✎ mysqldump 补全 --routines --triggers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测试与运维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MAINTENANCE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功能测试结果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029200" cy="29260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" name="Text 5"/>
          <p:cNvSpPr/>
          <p:nvPr/>
        </p:nvSpPr>
        <p:spPr>
          <a:xfrm>
            <a:off x="548640" y="16002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CRUD操作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全部正常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50292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548640" y="194767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业务规则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94767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名额/时间/同课约束全部通过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95144"/>
            <a:ext cx="5029200" cy="29260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3" name="Text 11"/>
          <p:cNvSpPr/>
          <p:nvPr/>
        </p:nvSpPr>
        <p:spPr>
          <a:xfrm>
            <a:off x="548640" y="229514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自动计算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学籍分 &amp; GPA 触发器正确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50292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48640" y="264261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统计报表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64261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4 个存储过程输出正确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5029200" cy="29260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548640" y="29900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备份恢复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9900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完整备份+恢复无丢失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5029200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548640" y="333756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初始化数据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3756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12班/120学生/16教师/12课/40排课/200+选课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11430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备份与恢复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1497330"/>
            <a:ext cx="2743200" cy="1743710"/>
          </a:xfrm>
          <a:prstGeom prst="rect">
            <a:avLst/>
          </a:prstGeom>
          <a:solidFill>
            <a:srgbClr val="F1F5F9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16916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96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备份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mysqldump --databases db_sms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--routines --triggers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--add-drop-table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恢复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FOREIGN_KEY_CHECKS=0;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source backup.sql;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FOREIGN_KEY_CHECKS=1;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2461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运维变更：学籍分 → 学位分（GPA）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611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只修改触发器公式，应用层零改动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体现数据独立性（外模式/逻辑模式分离）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4572000" cy="4572000"/>
          </a:xfrm>
          <a:prstGeom prst="ellipse">
            <a:avLst/>
          </a:prstGeom>
          <a:solidFill>
            <a:srgbClr val="2196F3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总结与收获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7" name="Text 5"/>
          <p:cNvSpPr/>
          <p:nvPr/>
        </p:nvSpPr>
        <p:spPr>
          <a:xfrm>
            <a:off x="457200" y="1554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张表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93852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个视图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93852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个触发器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5544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193852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个存储过程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5786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个函数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1945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60320" y="25786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~1000行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63440" y="25786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~700行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1945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66560" y="257860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个页面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8229600" cy="45720"/>
          </a:xfrm>
          <a:prstGeom prst="rect">
            <a:avLst/>
          </a:prstGeom>
          <a:solidFill>
            <a:srgbClr val="2196F3"/>
          </a:solidFill>
        </p:spPr>
      </p:sp>
      <p:sp>
        <p:nvSpPr>
          <p:cNvPr id="24" name="Text 22"/>
          <p:cNvSpPr/>
          <p:nvPr/>
        </p:nvSpPr>
        <p:spPr>
          <a:xfrm>
            <a:off x="640080" y="32461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深入理解数据库设计六阶段完整流程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59359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掌握 ER 图设计、规范化理论（1NF/2NF/3NF）、索引优化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41064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体验数据独立性 — 运维变更零应用层改动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8853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学会 AI 高效协作：明确提示词 + 主动审核 + 及时纠正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63600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适合重复性代码生成，架构决策必须人工主导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4617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4080</Words>
  <Application>WPS 演示</Application>
  <PresentationFormat>On-screen Show (16:9)</PresentationFormat>
  <Paragraphs>599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</vt:lpstr>
      <vt:lpstr>Arial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数据库系统课程设计 — 学生成绩管理系统</dc:title>
  <dc:creator>蔡坤灿</dc:creator>
  <dc:subject>PptxGenJS Presentation</dc:subject>
  <cp:lastModifiedBy>₯㎕.交叉兔</cp:lastModifiedBy>
  <cp:revision>6</cp:revision>
  <dcterms:created xsi:type="dcterms:W3CDTF">2026-07-10T09:48:00Z</dcterms:created>
  <dcterms:modified xsi:type="dcterms:W3CDTF">2026-07-10T09:56:33Z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C7EC5D3B5CB2436A9DF5AEB8BBA692B1_12</vt:lpwstr>
  </property>
  <property fmtid="{D5CDD505-2E9C-101B-9397-08002B2CF9AE}" pid="3" name="KSOProductBuildVer">
    <vt:lpwstr>2052-12.8.2.18205</vt:lpwstr>
  </property>
</Properties>
</file>